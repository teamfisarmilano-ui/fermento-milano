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716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10287000"/>
          </a:xfrm>
          <a:prstGeom prst="rect">
            <a:avLst/>
          </a:prstGeom>
          <a:solidFill>
            <a:srgbClr val="F3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359">
                <a:solidFill>
                  <a:srgbClr val="C4650B"/>
                </a:solidFill>
                <a:latin typeface="Jost"/>
              </a:rPr>
              <a:t>4 · IDEE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876300"/>
            <a:ext cx="762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50" b="0" i="0">
                <a:solidFill>
                  <a:srgbClr val="1C1613"/>
                </a:solidFill>
                <a:latin typeface="Bodoni Moda"/>
              </a:rPr>
              <a:t>Sei piste da valutare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6400" y="666750"/>
            <a:ext cx="3810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425" b="0" i="0">
                <a:solidFill>
                  <a:srgbClr val="5A5148"/>
                </a:solidFill>
                <a:latin typeface="Jost"/>
              </a:rPr>
              <a:t>Sei modi di far durare il cofanetto oltre il 24 dicembre: prima di comprarlo, mentre lo si apre, dopo che è finito.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809750"/>
            <a:ext cx="4029075" cy="35147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1809750"/>
            <a:ext cx="4029075" cy="38100"/>
          </a:xfrm>
          <a:prstGeom prst="rect">
            <a:avLst/>
          </a:prstGeom>
          <a:solidFill>
            <a:srgbClr val="E42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6300" y="2076450"/>
            <a:ext cx="95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50" b="0" i="0">
                <a:solidFill>
                  <a:srgbClr val="E42313"/>
                </a:solidFill>
                <a:latin typeface="Bodoni Mod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2533650"/>
            <a:ext cx="3495675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 i="0">
                <a:solidFill>
                  <a:srgbClr val="1C1613"/>
                </a:solidFill>
                <a:latin typeface="Jost"/>
              </a:rPr>
              <a:t>Il calendario è un catalogo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314700"/>
            <a:ext cx="3495675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5A5148"/>
                </a:solidFill>
                <a:latin typeface="Jost"/>
              </a:rPr>
              <a:t>Il QR di ogni casella porta alla bottiglia intera, acquistabile subito. Ventiquattro sere di assaggio diventano ventiquattro occasioni di vendita.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886325"/>
            <a:ext cx="34956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165">
                <a:solidFill>
                  <a:srgbClr val="6F6859"/>
                </a:solidFill>
                <a:latin typeface="Jost"/>
              </a:rPr>
              <a:t>VENDITA · E-COMMERCE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8225" y="1809750"/>
            <a:ext cx="4029075" cy="35147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8225" y="1809750"/>
            <a:ext cx="4029075" cy="38100"/>
          </a:xfrm>
          <a:prstGeom prst="rect">
            <a:avLst/>
          </a:prstGeom>
          <a:solidFill>
            <a:srgbClr val="F0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4925" y="2076450"/>
            <a:ext cx="95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50" b="0" i="0">
                <a:solidFill>
                  <a:srgbClr val="C4650B"/>
                </a:solidFill>
                <a:latin typeface="Bodoni Mod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4925" y="2533650"/>
            <a:ext cx="3495675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 i="0">
                <a:solidFill>
                  <a:srgbClr val="1C1613"/>
                </a:solidFill>
                <a:latin typeface="Jost"/>
              </a:rPr>
              <a:t>La casella 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4925" y="3314700"/>
            <a:ext cx="3495675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5A5148"/>
                </a:solidFill>
                <a:latin typeface="Jost"/>
              </a:rPr>
              <a:t>Una casella in più, oltre le 24: non contiene vino ma un invito. Una degustazione guidata, una visita in cantina, una serata. Il cofanetto finisce, l'esperienza no.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4925" y="4886325"/>
            <a:ext cx="34956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165">
                <a:solidFill>
                  <a:srgbClr val="6F6859"/>
                </a:solidFill>
                <a:latin typeface="Jost"/>
              </a:rPr>
              <a:t>RETENTION · EVENTI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850" y="1809750"/>
            <a:ext cx="4029075" cy="35147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86850" y="1809750"/>
            <a:ext cx="4029075" cy="38100"/>
          </a:xfrm>
          <a:prstGeom prst="rect">
            <a:avLst/>
          </a:prstGeom>
          <a:solidFill>
            <a:srgbClr val="7A2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53550" y="2076450"/>
            <a:ext cx="95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50" b="0" i="0">
                <a:solidFill>
                  <a:srgbClr val="7A2E8E"/>
                </a:solidFill>
                <a:latin typeface="Bodoni Moda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3550" y="2533650"/>
            <a:ext cx="3495675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 i="0">
                <a:solidFill>
                  <a:srgbClr val="1C1613"/>
                </a:solidFill>
                <a:latin typeface="Jost"/>
              </a:rPr>
              <a:t>Il calendario a due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3550" y="3314700"/>
            <a:ext cx="3495675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5A5148"/>
                </a:solidFill>
                <a:latin typeface="Jost"/>
              </a:rPr>
              <a:t>Due mignon per casella, oppure due cofanetti gemelli a due indirizzi diversi. Stessa etichetta, stessa sera, due case: il regalo è il brindisi a distanza.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3550" y="4886325"/>
            <a:ext cx="34956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165">
                <a:solidFill>
                  <a:srgbClr val="6F6859"/>
                </a:solidFill>
                <a:latin typeface="Jost"/>
              </a:rPr>
              <a:t>REGALO · SCONTRINO DOPPIO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5534025"/>
            <a:ext cx="4029075" cy="35147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600" y="5534025"/>
            <a:ext cx="4029075" cy="38100"/>
          </a:xfrm>
          <a:prstGeom prst="rect">
            <a:avLst/>
          </a:prstGeom>
          <a:solidFill>
            <a:srgbClr val="F6D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6300" y="5800725"/>
            <a:ext cx="95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50" b="0" i="0">
                <a:solidFill>
                  <a:srgbClr val="9A7D08"/>
                </a:solidFill>
                <a:latin typeface="Bodoni Moda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300" y="6257925"/>
            <a:ext cx="3495675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 i="0">
                <a:solidFill>
                  <a:srgbClr val="1C1613"/>
                </a:solidFill>
                <a:latin typeface="Jost"/>
              </a:rPr>
              <a:t>Le 24 carte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6300" y="7038975"/>
            <a:ext cx="3495675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5A5148"/>
                </a:solidFill>
                <a:latin typeface="Jost"/>
              </a:rPr>
              <a:t>Le schede del giorno sono perforate: si staccano e a fine dicembre formano un mazzo di 24 carte. Il diario della degustazione, e la spesa di gennaio.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300" y="8610600"/>
            <a:ext cx="34956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165">
                <a:solidFill>
                  <a:srgbClr val="6F6859"/>
                </a:solidFill>
                <a:latin typeface="Jost"/>
              </a:rPr>
              <a:t>PRODOTTO · RICORDO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8225" y="5534025"/>
            <a:ext cx="4029075" cy="35147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8225" y="5534025"/>
            <a:ext cx="4029075" cy="38100"/>
          </a:xfrm>
          <a:prstGeom prst="rect">
            <a:avLst/>
          </a:prstGeom>
          <a:solidFill>
            <a:srgbClr val="E42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14925" y="5800725"/>
            <a:ext cx="95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50" b="0" i="0">
                <a:solidFill>
                  <a:srgbClr val="E42313"/>
                </a:solidFill>
                <a:latin typeface="Bodoni Moda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14925" y="6257925"/>
            <a:ext cx="3495675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 i="0">
                <a:solidFill>
                  <a:srgbClr val="1C1613"/>
                </a:solidFill>
                <a:latin typeface="Jost"/>
              </a:rPr>
              <a:t>Ventiquattro sere in diretta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14925" y="7038975"/>
            <a:ext cx="3495675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5A5148"/>
                </a:solidFill>
                <a:latin typeface="Jost"/>
              </a:rPr>
              <a:t>Ogni sera un micro-video verticale di un minuto: si apre la casella, il produttore dice tre cose sul suo vino, fine. Ventiquattro uscite già scritte.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14925" y="8610600"/>
            <a:ext cx="34956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165">
                <a:solidFill>
                  <a:srgbClr val="6F6859"/>
                </a:solidFill>
                <a:latin typeface="Jost"/>
              </a:rPr>
              <a:t>CONTENUTO · 24 USCITE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86850" y="5534025"/>
            <a:ext cx="4029075" cy="35147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86850" y="5534025"/>
            <a:ext cx="4029075" cy="38100"/>
          </a:xfrm>
          <a:prstGeom prst="rect">
            <a:avLst/>
          </a:prstGeom>
          <a:solidFill>
            <a:srgbClr val="7A2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53550" y="5800725"/>
            <a:ext cx="95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50" b="0" i="0">
                <a:solidFill>
                  <a:srgbClr val="7A2E8E"/>
                </a:solidFill>
                <a:latin typeface="Bodoni Moda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53550" y="6257925"/>
            <a:ext cx="3495675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 i="0">
                <a:solidFill>
                  <a:srgbClr val="1C1613"/>
                </a:solidFill>
                <a:latin typeface="Jost"/>
              </a:rPr>
              <a:t>Versione da banco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53550" y="7038975"/>
            <a:ext cx="3495675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 i="0">
                <a:solidFill>
                  <a:srgbClr val="5A5148"/>
                </a:solidFill>
                <a:latin typeface="Jost"/>
              </a:rPr>
              <a:t>Lo stesso calendario per enoteche e wine bar: la casella del giorno è il calice del giorno, esposto al banco con la sua scheda. Contenuto quotidiano pronto.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53550" y="8610600"/>
            <a:ext cx="34956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165">
                <a:solidFill>
                  <a:srgbClr val="6F6859"/>
                </a:solidFill>
                <a:latin typeface="Jost"/>
              </a:rPr>
              <a:t>HO.RE.CA · B2B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600" y="9448800"/>
            <a:ext cx="12496800" cy="9525"/>
          </a:xfrm>
          <a:prstGeom prst="rect">
            <a:avLst/>
          </a:prstGeom>
          <a:solidFill>
            <a:srgbClr val="D3C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9600" y="9658350"/>
            <a:ext cx="12496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6157"/>
                </a:solidFill>
                <a:latin typeface="Jost"/>
              </a:rPr>
              <a:t>Proposte da validare — nessun accordo con cantine, prezzo o disponibilità è stato verificato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