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14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ttigl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8650"/>
            <a:ext cx="904875" cy="1066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838325"/>
            <a:ext cx="2366010" cy="3600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25" b="1" i="0">
                <a:solidFill>
                  <a:srgbClr val="F3ECE2"/>
                </a:solidFill>
                <a:latin typeface="Montserrat"/>
              </a:rPr>
              <a:t>Mignon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85511"/>
            <a:ext cx="2366010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25" b="0" i="0" spc="247">
                <a:solidFill>
                  <a:srgbClr val="A2968A"/>
                </a:solidFill>
                <a:latin typeface="Montserrat"/>
              </a:rPr>
              <a:t>LE PIÙ PICCOLE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0" y="723900"/>
            <a:ext cx="38862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90000"/>
              </a:lnSpc>
            </a:pPr>
            <a:r>
              <a:rPr sz="1200" b="0" i="0" spc="262">
                <a:solidFill>
                  <a:srgbClr val="8E8378"/>
                </a:solidFill>
                <a:latin typeface="Jost"/>
              </a:rPr>
              <a:t>DIREZIONE A</a:t>
            </a:r>
          </a:p>
          <a:p>
            <a:pPr algn="r">
              <a:lnSpc>
                <a:spcPct val="190000"/>
              </a:lnSpc>
            </a:pPr>
            <a:r>
              <a:rPr sz="1200" b="0" i="0" spc="262">
                <a:solidFill>
                  <a:srgbClr val="8E8378"/>
                </a:solidFill>
                <a:latin typeface="Jost"/>
              </a:rPr>
              <a:t>NOTTE DI DICEMBRE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48050"/>
            <a:ext cx="666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75" b="0" i="0" spc="382">
                <a:solidFill>
                  <a:srgbClr val="F08019"/>
                </a:solidFill>
                <a:latin typeface="Jost"/>
              </a:rPr>
              <a:t>CALENDARIO DELL'AVVENTO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90950"/>
            <a:ext cx="904875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7500" b="0" i="0">
                <a:solidFill>
                  <a:srgbClr val="F3ECE2"/>
                </a:solidFill>
                <a:latin typeface="Bodoni Moda"/>
              </a:rPr>
              <a:t>Ventiquattro sere.</a:t>
            </a:r>
          </a:p>
          <a:p>
            <a:pPr algn="l">
              <a:lnSpc>
                <a:spcPct val="98000"/>
              </a:lnSpc>
            </a:pPr>
            <a:r>
              <a:rPr sz="7500" b="0" i="1">
                <a:solidFill>
                  <a:srgbClr val="F6D01A"/>
                </a:solidFill>
                <a:latin typeface="Bodoni Moda"/>
              </a:rPr>
              <a:t>Ventiquattro</a:t>
            </a:r>
            <a:r>
              <a:rPr sz="7500" b="0" i="0">
                <a:solidFill>
                  <a:srgbClr val="F3ECE2"/>
                </a:solidFill>
                <a:latin typeface="Bodoni Moda"/>
              </a:rPr>
              <a:t> vini.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191250"/>
            <a:ext cx="914400" cy="19050"/>
          </a:xfrm>
          <a:prstGeom prst="rect">
            <a:avLst/>
          </a:prstGeom>
          <a:solidFill>
            <a:srgbClr val="E42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91300"/>
            <a:ext cx="69532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250" b="0" i="0">
                <a:solidFill>
                  <a:srgbClr val="C9BEB1"/>
                </a:solidFill>
                <a:latin typeface="Jost"/>
              </a:rPr>
              <a:t>Dal 1° al 24 dicembre apri una bottiglia mignon diversa: un assaggio serio, nel formato giusto per una sera qualunque.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9220200"/>
            <a:ext cx="2057400" cy="9525"/>
          </a:xfrm>
          <a:prstGeom prst="rect">
            <a:avLst/>
          </a:prstGeom>
          <a:solidFill>
            <a:srgbClr val="3A3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9410700"/>
            <a:ext cx="2057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50" b="0" i="0">
                <a:solidFill>
                  <a:srgbClr val="E42313"/>
                </a:solidFill>
                <a:latin typeface="Bodoni Moda"/>
              </a:rP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0020300"/>
            <a:ext cx="20574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25" b="0" i="0">
                <a:solidFill>
                  <a:srgbClr val="A2968A"/>
                </a:solidFill>
                <a:latin typeface="Jost"/>
              </a:rPr>
              <a:t>mignon,</a:t>
            </a:r>
          </a:p>
          <a:p>
            <a:pPr algn="l">
              <a:lnSpc>
                <a:spcPct val="140000"/>
              </a:lnSpc>
            </a:pPr>
            <a:r>
              <a:rPr sz="1425" b="0" i="0">
                <a:solidFill>
                  <a:srgbClr val="A2968A"/>
                </a:solidFill>
                <a:latin typeface="Jost"/>
              </a:rPr>
              <a:t>una per sera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1800" y="9220200"/>
            <a:ext cx="2057400" cy="9525"/>
          </a:xfrm>
          <a:prstGeom prst="rect">
            <a:avLst/>
          </a:prstGeom>
          <a:solidFill>
            <a:srgbClr val="3A3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9410700"/>
            <a:ext cx="2057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50" b="0" i="0">
                <a:solidFill>
                  <a:srgbClr val="F08019"/>
                </a:solidFill>
                <a:latin typeface="Bodoni Moda"/>
              </a:rPr>
              <a:t>[N]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10020300"/>
            <a:ext cx="20574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25" b="0" i="0">
                <a:solidFill>
                  <a:srgbClr val="A2968A"/>
                </a:solidFill>
                <a:latin typeface="Jost"/>
              </a:rPr>
              <a:t>cantine</a:t>
            </a:r>
          </a:p>
          <a:p>
            <a:pPr algn="l">
              <a:lnSpc>
                <a:spcPct val="140000"/>
              </a:lnSpc>
            </a:pPr>
            <a:r>
              <a:rPr sz="1425" b="0" i="0">
                <a:solidFill>
                  <a:srgbClr val="A2968A"/>
                </a:solidFill>
                <a:latin typeface="Jost"/>
              </a:rPr>
              <a:t>italiane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57800" y="9220200"/>
            <a:ext cx="2057400" cy="9525"/>
          </a:xfrm>
          <a:prstGeom prst="rect">
            <a:avLst/>
          </a:prstGeom>
          <a:solidFill>
            <a:srgbClr val="3A3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57800" y="9410700"/>
            <a:ext cx="2057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50" b="0" i="0">
                <a:solidFill>
                  <a:srgbClr val="7A2E8E"/>
                </a:solidFill>
                <a:latin typeface="Bodoni Moda"/>
              </a:rPr>
              <a:t>[ML]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10020300"/>
            <a:ext cx="20574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25" b="0" i="0">
                <a:solidFill>
                  <a:srgbClr val="A2968A"/>
                </a:solidFill>
                <a:latin typeface="Jost"/>
              </a:rPr>
              <a:t>il formato</a:t>
            </a:r>
          </a:p>
          <a:p>
            <a:pPr algn="l">
              <a:lnSpc>
                <a:spcPct val="140000"/>
              </a:lnSpc>
            </a:pPr>
            <a:r>
              <a:rPr sz="1425" b="0" i="0">
                <a:solidFill>
                  <a:srgbClr val="A2968A"/>
                </a:solidFill>
                <a:latin typeface="Jost"/>
              </a:rPr>
              <a:t>di ogni mignon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43800" y="9220200"/>
            <a:ext cx="2057400" cy="9525"/>
          </a:xfrm>
          <a:prstGeom prst="rect">
            <a:avLst/>
          </a:prstGeom>
          <a:solidFill>
            <a:srgbClr val="3A3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43800" y="9410700"/>
            <a:ext cx="20574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50" b="0" i="0">
                <a:solidFill>
                  <a:srgbClr val="F6D01A"/>
                </a:solidFill>
                <a:latin typeface="Bodoni Moda"/>
              </a:rPr>
              <a:t>[€]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10020300"/>
            <a:ext cx="20574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25" b="0" i="0">
                <a:solidFill>
                  <a:srgbClr val="A2968A"/>
                </a:solidFill>
                <a:latin typeface="Jost"/>
              </a:rPr>
              <a:t>prezzo</a:t>
            </a:r>
          </a:p>
          <a:p>
            <a:pPr algn="l">
              <a:lnSpc>
                <a:spcPct val="140000"/>
              </a:lnSpc>
            </a:pPr>
            <a:r>
              <a:rPr sz="1425" b="0" i="0">
                <a:solidFill>
                  <a:srgbClr val="A2968A"/>
                </a:solidFill>
                <a:latin typeface="Jost"/>
              </a:rPr>
              <a:t>del cofanetto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1982450"/>
            <a:ext cx="476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 spc="187">
                <a:solidFill>
                  <a:srgbClr val="9A8F82"/>
                </a:solidFill>
                <a:latin typeface="Jost"/>
              </a:rPr>
              <a:t>MIGNONEXPERIENCE.COM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38700" y="11982450"/>
            <a:ext cx="476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350" b="0" i="0" spc="187">
                <a:solidFill>
                  <a:srgbClr val="9A8F82"/>
                </a:solidFill>
                <a:latin typeface="Jost"/>
              </a:rPr>
              <a:t>1 — 24 DICEMBRE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ttigl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476250"/>
            <a:ext cx="704850" cy="838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400" y="1419225"/>
            <a:ext cx="1840230" cy="2800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75" b="1" i="0">
                <a:solidFill>
                  <a:srgbClr val="4A4A52"/>
                </a:solidFill>
                <a:latin typeface="Montserrat"/>
              </a:rPr>
              <a:t>Mignon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689258"/>
            <a:ext cx="184023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75" b="0" i="0" spc="202">
                <a:solidFill>
                  <a:srgbClr val="8A8A92"/>
                </a:solidFill>
                <a:latin typeface="Montserrat"/>
              </a:rPr>
              <a:t>LE PIÙ PICCOLE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0" y="571500"/>
            <a:ext cx="4038600" cy="66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80000"/>
              </a:lnSpc>
            </a:pPr>
            <a:r>
              <a:rPr sz="1125" b="1" i="0" spc="225">
                <a:solidFill>
                  <a:srgbClr val="8A8177"/>
                </a:solidFill>
                <a:latin typeface="Archivo"/>
              </a:rPr>
              <a:t>DIREZIONE B</a:t>
            </a:r>
          </a:p>
          <a:p>
            <a:pPr algn="r">
              <a:lnSpc>
                <a:spcPct val="180000"/>
              </a:lnSpc>
            </a:pPr>
            <a:r>
              <a:rPr sz="1125" b="1" i="0" spc="225">
                <a:solidFill>
                  <a:srgbClr val="8A8177"/>
                </a:solidFill>
                <a:latin typeface="Archivo"/>
              </a:rPr>
              <a:t>CARTA &amp; COLORE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1676400"/>
            <a:ext cx="8572500" cy="30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8700" b="0" i="0">
                <a:solidFill>
                  <a:srgbClr val="221E1B"/>
                </a:solidFill>
                <a:latin typeface="Archivo Black"/>
              </a:rPr>
              <a:t>APRINE</a:t>
            </a:r>
          </a:p>
          <a:p>
            <a:pPr algn="l">
              <a:lnSpc>
                <a:spcPct val="86000"/>
              </a:lnSpc>
            </a:pPr>
            <a:r>
              <a:rPr sz="8700" b="0" i="0">
                <a:solidFill>
                  <a:srgbClr val="E42313"/>
                </a:solidFill>
                <a:latin typeface="Archivo Black"/>
              </a:rPr>
              <a:t>UNA</a:t>
            </a:r>
            <a:r>
              <a:rPr sz="8700" b="0" i="0">
                <a:solidFill>
                  <a:srgbClr val="221E1B"/>
                </a:solidFill>
                <a:latin typeface="Archivo Black"/>
              </a:rPr>
              <a:t> </a:t>
            </a:r>
            <a:r>
              <a:rPr sz="8700" b="0" i="0">
                <a:solidFill>
                  <a:srgbClr val="F08019"/>
                </a:solidFill>
                <a:latin typeface="Archivo Black"/>
              </a:rPr>
              <a:t>AL</a:t>
            </a:r>
          </a:p>
          <a:p>
            <a:pPr algn="l">
              <a:lnSpc>
                <a:spcPct val="86000"/>
              </a:lnSpc>
            </a:pPr>
            <a:r>
              <a:rPr sz="8700" b="0" i="0">
                <a:solidFill>
                  <a:srgbClr val="7A2E8E"/>
                </a:solidFill>
                <a:latin typeface="Archivo Black"/>
              </a:rPr>
              <a:t>GIORNO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5619750"/>
            <a:ext cx="6096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25" b="0" i="0">
                <a:solidFill>
                  <a:srgbClr val="4A443E"/>
                </a:solidFill>
                <a:latin typeface="Archivo"/>
              </a:rPr>
              <a:t>Il calendario dell'Avvento di Mignon Experience: 24 caselle, 24 bottiglie mignon, zero cioccolatini.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" y="6724650"/>
            <a:ext cx="1438275" cy="1438275"/>
          </a:xfrm>
          <a:prstGeom prst="rect">
            <a:avLst/>
          </a:prstGeom>
          <a:solidFill>
            <a:srgbClr val="E42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3400" y="7177087"/>
            <a:ext cx="1438275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 i="0">
                <a:solidFill>
                  <a:srgbClr val="F7F1E6"/>
                </a:solidFill>
                <a:latin typeface="Archivo Black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85975" y="6724650"/>
            <a:ext cx="1438275" cy="1438275"/>
          </a:xfrm>
          <a:prstGeom prst="rect">
            <a:avLst/>
          </a:prstGeom>
          <a:solidFill>
            <a:srgbClr val="ED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85975" y="7177087"/>
            <a:ext cx="1438275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 i="0">
                <a:solidFill>
                  <a:srgbClr val="7F7466"/>
                </a:solidFill>
                <a:latin typeface="Archivo Black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38550" y="6724650"/>
            <a:ext cx="1438275" cy="1438275"/>
          </a:xfrm>
          <a:prstGeom prst="rect">
            <a:avLst/>
          </a:prstGeom>
          <a:solidFill>
            <a:srgbClr val="ED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8550" y="7177087"/>
            <a:ext cx="1438275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 i="0">
                <a:solidFill>
                  <a:srgbClr val="7F7466"/>
                </a:solidFill>
                <a:latin typeface="Archivo Black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91125" y="6724650"/>
            <a:ext cx="1438275" cy="1438275"/>
          </a:xfrm>
          <a:prstGeom prst="rect">
            <a:avLst/>
          </a:prstGeom>
          <a:solidFill>
            <a:srgbClr val="F08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91125" y="7177087"/>
            <a:ext cx="1438275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 i="0">
                <a:solidFill>
                  <a:srgbClr val="F7F1E6"/>
                </a:solidFill>
                <a:latin typeface="Archivo Black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43700" y="6724650"/>
            <a:ext cx="1438275" cy="1438275"/>
          </a:xfrm>
          <a:prstGeom prst="rect">
            <a:avLst/>
          </a:prstGeom>
          <a:solidFill>
            <a:srgbClr val="ED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43700" y="7177087"/>
            <a:ext cx="1438275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 i="0">
                <a:solidFill>
                  <a:srgbClr val="7F7466"/>
                </a:solidFill>
                <a:latin typeface="Archivo Black"/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96275" y="6724650"/>
            <a:ext cx="1438275" cy="1438275"/>
          </a:xfrm>
          <a:prstGeom prst="rect">
            <a:avLst/>
          </a:prstGeom>
          <a:solidFill>
            <a:srgbClr val="ED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6275" y="7177087"/>
            <a:ext cx="1438275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 i="0">
                <a:solidFill>
                  <a:srgbClr val="7F7466"/>
                </a:solidFill>
                <a:latin typeface="Archivo Black"/>
              </a:rPr>
              <a:t>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400" y="8277225"/>
            <a:ext cx="1438275" cy="1438275"/>
          </a:xfrm>
          <a:prstGeom prst="rect">
            <a:avLst/>
          </a:prstGeom>
          <a:solidFill>
            <a:srgbClr val="ED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400" y="8729662"/>
            <a:ext cx="1438275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 i="0">
                <a:solidFill>
                  <a:srgbClr val="7F7466"/>
                </a:solidFill>
                <a:latin typeface="Archivo Black"/>
              </a:rPr>
              <a:t>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85975" y="8277225"/>
            <a:ext cx="1438275" cy="1438275"/>
          </a:xfrm>
          <a:prstGeom prst="rect">
            <a:avLst/>
          </a:prstGeom>
          <a:solidFill>
            <a:srgbClr val="7A2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85975" y="8729662"/>
            <a:ext cx="1438275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 i="0">
                <a:solidFill>
                  <a:srgbClr val="F7F1E6"/>
                </a:solidFill>
                <a:latin typeface="Archivo Black"/>
              </a:rPr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38550" y="8277225"/>
            <a:ext cx="1438275" cy="1438275"/>
          </a:xfrm>
          <a:prstGeom prst="rect">
            <a:avLst/>
          </a:prstGeom>
          <a:solidFill>
            <a:srgbClr val="ED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8550" y="8729662"/>
            <a:ext cx="1438275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 i="0">
                <a:solidFill>
                  <a:srgbClr val="7F7466"/>
                </a:solidFill>
                <a:latin typeface="Archivo Black"/>
              </a:rPr>
              <a:t>9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91125" y="8277225"/>
            <a:ext cx="1438275" cy="1438275"/>
          </a:xfrm>
          <a:prstGeom prst="rect">
            <a:avLst/>
          </a:prstGeom>
          <a:solidFill>
            <a:srgbClr val="ED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91125" y="8729662"/>
            <a:ext cx="1438275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700" b="0" i="0">
                <a:solidFill>
                  <a:srgbClr val="7F7466"/>
                </a:solidFill>
                <a:latin typeface="Archivo Black"/>
              </a:rPr>
              <a:t>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43700" y="8277225"/>
            <a:ext cx="1438275" cy="1438275"/>
          </a:xfrm>
          <a:prstGeom prst="rect">
            <a:avLst/>
          </a:prstGeom>
          <a:solidFill>
            <a:srgbClr val="EDE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43700" y="8729662"/>
            <a:ext cx="1438275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700" b="0" i="0">
                <a:solidFill>
                  <a:srgbClr val="7F7466"/>
                </a:solidFill>
                <a:latin typeface="Archivo Black"/>
              </a:rPr>
              <a:t>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96275" y="8277225"/>
            <a:ext cx="1438275" cy="1438275"/>
          </a:xfrm>
          <a:prstGeom prst="rect">
            <a:avLst/>
          </a:prstGeom>
          <a:solidFill>
            <a:srgbClr val="F6D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96275" y="8729662"/>
            <a:ext cx="1438275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700" b="0" i="0">
                <a:solidFill>
                  <a:srgbClr val="221E1B"/>
                </a:solidFill>
                <a:latin typeface="Archivo Black"/>
              </a:rPr>
              <a:t>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3400" y="9925050"/>
            <a:ext cx="666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75" b="0" i="0">
                <a:solidFill>
                  <a:srgbClr val="6E6459"/>
                </a:solidFill>
                <a:latin typeface="Archivo"/>
              </a:rPr>
              <a:t>… e altre dodici, fino al 24.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3400" y="11811000"/>
            <a:ext cx="9220200" cy="28575"/>
          </a:xfrm>
          <a:prstGeom prst="rect">
            <a:avLst/>
          </a:prstGeom>
          <a:solidFill>
            <a:srgbClr val="221E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3400" y="1202055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75" b="1" i="0" spc="127">
                <a:solidFill>
                  <a:srgbClr val="221E1B"/>
                </a:solidFill>
                <a:latin typeface="Archivo"/>
              </a:rPr>
              <a:t>DAL 1° AL 24 DICEMBRE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62500" y="12020550"/>
            <a:ext cx="49911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275" b="1" i="0" spc="127">
                <a:solidFill>
                  <a:srgbClr val="8A8177"/>
                </a:solidFill>
                <a:latin typeface="Archivo"/>
              </a:rPr>
              <a:t>MIGNONEXPERIENCE.COM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E9E3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ottigl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914400"/>
            <a:ext cx="1209675" cy="1428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70997" y="2533650"/>
            <a:ext cx="315468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700" b="1" i="0">
                <a:solidFill>
                  <a:srgbClr val="4A4A52"/>
                </a:solidFill>
                <a:latin typeface="Montserrat"/>
              </a:rPr>
              <a:t>Mignon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70997" y="2996565"/>
            <a:ext cx="315468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125" b="0" i="0" spc="337">
                <a:solidFill>
                  <a:srgbClr val="8A8A92"/>
                </a:solidFill>
                <a:latin typeface="Montserrat"/>
              </a:rPr>
              <a:t>LE PIÙ PICCOLE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19500"/>
            <a:ext cx="845820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7800" b="0" i="0">
                <a:solidFill>
                  <a:srgbClr val="2E2A26"/>
                </a:solidFill>
                <a:latin typeface="Cormorant Garamond"/>
              </a:rPr>
              <a:t>Dicembre,</a:t>
            </a:r>
          </a:p>
          <a:p>
            <a:pPr algn="ctr">
              <a:lnSpc>
                <a:spcPct val="106000"/>
              </a:lnSpc>
            </a:pPr>
            <a:r>
              <a:rPr sz="7800" b="0" i="1">
                <a:solidFill>
                  <a:srgbClr val="2E2A26"/>
                </a:solidFill>
                <a:latin typeface="Cormorant Garamond"/>
              </a:rPr>
              <a:t>un sorso alla volta</a:t>
            </a:r>
          </a:p>
        </p:txBody>
      </p:sp>
      <p:sp>
        <p:nvSpPr>
          <p:cNvPr id="7" name="Rectangle 6"/>
          <p:cNvSpPr/>
          <p:nvPr/>
        </p:nvSpPr>
        <p:spPr>
          <a:xfrm>
            <a:off x="5133975" y="6324600"/>
            <a:ext cx="9525" cy="685800"/>
          </a:xfrm>
          <a:prstGeom prst="rect">
            <a:avLst/>
          </a:prstGeom>
          <a:solidFill>
            <a:srgbClr val="B7A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95500" y="7372350"/>
            <a:ext cx="609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70000"/>
              </a:lnSpc>
            </a:pPr>
            <a:r>
              <a:rPr sz="1875" b="0" i="0">
                <a:solidFill>
                  <a:srgbClr val="5C554C"/>
                </a:solidFill>
                <a:latin typeface="Mulish"/>
              </a:rPr>
              <a:t>Ventiquattro bottiglie mignon, una per ogni sera dell'Avvento. Nessuna fretta, nessun rumore: solo il tempo di versare.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0858500"/>
            <a:ext cx="84582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50" b="0" i="0" spc="900">
                <a:solidFill>
                  <a:srgbClr val="7A2E8E"/>
                </a:solidFill>
                <a:latin typeface="Cormorant Garamond"/>
              </a:rPr>
              <a:t>1 — 24 DICEMBRE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1563350"/>
            <a:ext cx="84582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 spc="284">
                <a:solidFill>
                  <a:srgbClr val="6F6659"/>
                </a:solidFill>
                <a:latin typeface="Mulish"/>
              </a:rPr>
              <a:t>MIGNONEXPERIENCE.COM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14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666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spc="359">
                <a:solidFill>
                  <a:srgbClr val="F08019"/>
                </a:solidFill>
                <a:latin typeface="Jost"/>
              </a:rPr>
              <a:t>1 · DA COSA È COMPOSTO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85725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50" b="0" i="0">
                <a:solidFill>
                  <a:srgbClr val="F3ECE2"/>
                </a:solidFill>
                <a:latin typeface="Bodoni Moda"/>
              </a:rPr>
              <a:t>Cosa c'è dentro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981200"/>
            <a:ext cx="7429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0">
                <a:solidFill>
                  <a:srgbClr val="B7AB9E"/>
                </a:solidFill>
                <a:latin typeface="Jost"/>
              </a:rPr>
              <a:t>Ventiquattro caselle numerate, ventiquattro etichette diverse. Il colore della casella dice che cosa stai per versare.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3143250"/>
            <a:ext cx="1400175" cy="1400175"/>
          </a:xfrm>
          <a:prstGeom prst="rect">
            <a:avLst/>
          </a:prstGeom>
          <a:noFill/>
          <a:ln w="12700">
            <a:solidFill>
              <a:srgbClr val="F6D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ottiglia-gia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062" y="3429000"/>
            <a:ext cx="57150" cy="438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3981450"/>
            <a:ext cx="14001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50" b="0" i="0">
                <a:solidFill>
                  <a:srgbClr val="F6D01A"/>
                </a:solidFill>
                <a:latin typeface="Bodoni Moda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2143125" y="3143250"/>
            <a:ext cx="1400175" cy="1400175"/>
          </a:xfrm>
          <a:prstGeom prst="rect">
            <a:avLst/>
          </a:prstGeom>
          <a:noFill/>
          <a:ln w="12700">
            <a:solidFill>
              <a:srgbClr val="E423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ottiglia-ros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5587" y="3429000"/>
            <a:ext cx="95250" cy="4381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143125" y="3981450"/>
            <a:ext cx="14001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50" b="0" i="0">
                <a:solidFill>
                  <a:srgbClr val="E42313"/>
                </a:solidFill>
                <a:latin typeface="Bodoni Moda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6650" y="3143250"/>
            <a:ext cx="1400175" cy="1400175"/>
          </a:xfrm>
          <a:prstGeom prst="rect">
            <a:avLst/>
          </a:prstGeom>
          <a:noFill/>
          <a:ln w="12700">
            <a:solidFill>
              <a:srgbClr val="F080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ottiglia-aranc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112" y="3429000"/>
            <a:ext cx="76200" cy="4381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76650" y="3981450"/>
            <a:ext cx="14001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50" b="0" i="0">
                <a:solidFill>
                  <a:srgbClr val="F08019"/>
                </a:solidFill>
                <a:latin typeface="Bodoni Moda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0175" y="3143250"/>
            <a:ext cx="1400175" cy="1400175"/>
          </a:xfrm>
          <a:prstGeom prst="rect">
            <a:avLst/>
          </a:prstGeom>
          <a:noFill/>
          <a:ln w="12700">
            <a:solidFill>
              <a:srgbClr val="E423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bottiglia-ros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637" y="3429000"/>
            <a:ext cx="95250" cy="4381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210175" y="3981450"/>
            <a:ext cx="14001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50" b="0" i="0">
                <a:solidFill>
                  <a:srgbClr val="E42313"/>
                </a:solidFill>
                <a:latin typeface="Bodoni Moda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43700" y="3143250"/>
            <a:ext cx="1400175" cy="1400175"/>
          </a:xfrm>
          <a:prstGeom prst="rect">
            <a:avLst/>
          </a:prstGeom>
          <a:noFill/>
          <a:ln w="12700">
            <a:solidFill>
              <a:srgbClr val="7A2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bottiglia-viol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6162" y="3429000"/>
            <a:ext cx="66675" cy="4381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743700" y="3981450"/>
            <a:ext cx="14001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50" b="0" i="0">
                <a:solidFill>
                  <a:srgbClr val="7A2E8E"/>
                </a:solidFill>
                <a:latin typeface="Bodoni Moda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7225" y="3143250"/>
            <a:ext cx="1400175" cy="1400175"/>
          </a:xfrm>
          <a:prstGeom prst="rect">
            <a:avLst/>
          </a:prstGeom>
          <a:noFill/>
          <a:ln w="12700">
            <a:solidFill>
              <a:srgbClr val="F6D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bottiglia-gia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9687" y="3429000"/>
            <a:ext cx="57150" cy="4381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277225" y="3981450"/>
            <a:ext cx="14001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50" b="0" i="0">
                <a:solidFill>
                  <a:srgbClr val="F6D01A"/>
                </a:solidFill>
                <a:latin typeface="Bodoni Moda"/>
              </a:rPr>
              <a:t>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4676775"/>
            <a:ext cx="1400175" cy="1400175"/>
          </a:xfrm>
          <a:prstGeom prst="rect">
            <a:avLst/>
          </a:prstGeom>
          <a:noFill/>
          <a:ln w="12700">
            <a:solidFill>
              <a:srgbClr val="E423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bottiglia-ros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2062" y="4962525"/>
            <a:ext cx="95250" cy="4381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9600" y="5514975"/>
            <a:ext cx="14001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50" b="0" i="0">
                <a:solidFill>
                  <a:srgbClr val="E42313"/>
                </a:solidFill>
                <a:latin typeface="Bodoni Moda"/>
              </a:rPr>
              <a:t>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43125" y="4676775"/>
            <a:ext cx="1400175" cy="1400175"/>
          </a:xfrm>
          <a:prstGeom prst="rect">
            <a:avLst/>
          </a:prstGeom>
          <a:noFill/>
          <a:ln w="12700">
            <a:solidFill>
              <a:srgbClr val="F080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bottiglia-aranc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5587" y="4962525"/>
            <a:ext cx="76200" cy="4381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143125" y="5514975"/>
            <a:ext cx="14001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50" b="0" i="0">
                <a:solidFill>
                  <a:srgbClr val="F08019"/>
                </a:solidFill>
                <a:latin typeface="Bodoni Moda"/>
              </a:rPr>
              <a:t>8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6650" y="4676775"/>
            <a:ext cx="1400175" cy="1400175"/>
          </a:xfrm>
          <a:prstGeom prst="rect">
            <a:avLst/>
          </a:prstGeom>
          <a:noFill/>
          <a:ln w="12700">
            <a:solidFill>
              <a:srgbClr val="F6D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bottiglia-gia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9112" y="4962525"/>
            <a:ext cx="57150" cy="4381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676650" y="5514975"/>
            <a:ext cx="14001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50" b="0" i="0">
                <a:solidFill>
                  <a:srgbClr val="F6D01A"/>
                </a:solidFill>
                <a:latin typeface="Bodoni Moda"/>
              </a:rPr>
              <a:t>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0175" y="4676775"/>
            <a:ext cx="1400175" cy="1400175"/>
          </a:xfrm>
          <a:prstGeom prst="rect">
            <a:avLst/>
          </a:prstGeom>
          <a:noFill/>
          <a:ln w="12700">
            <a:solidFill>
              <a:srgbClr val="E423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bottiglia-ros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2637" y="4962525"/>
            <a:ext cx="95250" cy="43815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210175" y="5514975"/>
            <a:ext cx="14001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50" b="0" i="0">
                <a:solidFill>
                  <a:srgbClr val="E42313"/>
                </a:solidFill>
                <a:latin typeface="Bodoni Moda"/>
              </a:rPr>
              <a:t>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43700" y="4676775"/>
            <a:ext cx="1400175" cy="1400175"/>
          </a:xfrm>
          <a:prstGeom prst="rect">
            <a:avLst/>
          </a:prstGeom>
          <a:noFill/>
          <a:ln w="12700">
            <a:solidFill>
              <a:srgbClr val="7A2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bottiglia-viol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6162" y="4962525"/>
            <a:ext cx="66675" cy="4381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743700" y="5514975"/>
            <a:ext cx="14001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50" b="0" i="0">
                <a:solidFill>
                  <a:srgbClr val="7A2E8E"/>
                </a:solidFill>
                <a:latin typeface="Bodoni Moda"/>
              </a:rPr>
              <a:t>11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77225" y="4676775"/>
            <a:ext cx="1400175" cy="1400175"/>
          </a:xfrm>
          <a:prstGeom prst="rect">
            <a:avLst/>
          </a:prstGeom>
          <a:noFill/>
          <a:ln w="12700">
            <a:solidFill>
              <a:srgbClr val="F080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bottiglia-aranc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9687" y="4962525"/>
            <a:ext cx="76200" cy="43815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277225" y="5514975"/>
            <a:ext cx="14001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50" b="0" i="0">
                <a:solidFill>
                  <a:srgbClr val="F08019"/>
                </a:solidFill>
                <a:latin typeface="Bodoni Moda"/>
              </a:rPr>
              <a:t>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9600" y="6210300"/>
            <a:ext cx="1400175" cy="1400175"/>
          </a:xfrm>
          <a:prstGeom prst="rect">
            <a:avLst/>
          </a:prstGeom>
          <a:noFill/>
          <a:ln w="12700">
            <a:solidFill>
              <a:srgbClr val="F6D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bottiglia-gia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062" y="6496050"/>
            <a:ext cx="57150" cy="43815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09600" y="7048500"/>
            <a:ext cx="14001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50" b="0" i="0">
                <a:solidFill>
                  <a:srgbClr val="F6D01A"/>
                </a:solidFill>
                <a:latin typeface="Bodoni Moda"/>
              </a:rPr>
              <a:t>13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43125" y="6210300"/>
            <a:ext cx="1400175" cy="1400175"/>
          </a:xfrm>
          <a:prstGeom prst="rect">
            <a:avLst/>
          </a:prstGeom>
          <a:noFill/>
          <a:ln w="12700">
            <a:solidFill>
              <a:srgbClr val="E423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bottiglia-ros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5587" y="6496050"/>
            <a:ext cx="95250" cy="43815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2143125" y="7048500"/>
            <a:ext cx="14001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50" b="0" i="0">
                <a:solidFill>
                  <a:srgbClr val="E42313"/>
                </a:solidFill>
                <a:latin typeface="Bodoni Moda"/>
              </a:rPr>
              <a:t>14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76650" y="6210300"/>
            <a:ext cx="1400175" cy="1400175"/>
          </a:xfrm>
          <a:prstGeom prst="rect">
            <a:avLst/>
          </a:prstGeom>
          <a:noFill/>
          <a:ln w="12700">
            <a:solidFill>
              <a:srgbClr val="F080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bottiglia-aranc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112" y="6496050"/>
            <a:ext cx="76200" cy="43815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3676650" y="7048500"/>
            <a:ext cx="14001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50" b="0" i="0">
                <a:solidFill>
                  <a:srgbClr val="F08019"/>
                </a:solidFill>
                <a:latin typeface="Bodoni Moda"/>
              </a:rPr>
              <a:t>15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10175" y="6210300"/>
            <a:ext cx="1400175" cy="1400175"/>
          </a:xfrm>
          <a:prstGeom prst="rect">
            <a:avLst/>
          </a:prstGeom>
          <a:noFill/>
          <a:ln w="12700">
            <a:solidFill>
              <a:srgbClr val="7A2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bottiglia-viol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2637" y="6496050"/>
            <a:ext cx="66675" cy="43815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5210175" y="7048500"/>
            <a:ext cx="14001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50" b="0" i="0">
                <a:solidFill>
                  <a:srgbClr val="7A2E8E"/>
                </a:solidFill>
                <a:latin typeface="Bodoni Moda"/>
              </a:rPr>
              <a:t>16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43700" y="6210300"/>
            <a:ext cx="1400175" cy="1400175"/>
          </a:xfrm>
          <a:prstGeom prst="rect">
            <a:avLst/>
          </a:prstGeom>
          <a:noFill/>
          <a:ln w="12700">
            <a:solidFill>
              <a:srgbClr val="E423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bottiglia-ros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162" y="6496050"/>
            <a:ext cx="95250" cy="438150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6743700" y="7048500"/>
            <a:ext cx="14001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50" b="0" i="0">
                <a:solidFill>
                  <a:srgbClr val="E42313"/>
                </a:solidFill>
                <a:latin typeface="Bodoni Moda"/>
              </a:rPr>
              <a:t>17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77225" y="6210300"/>
            <a:ext cx="1400175" cy="1400175"/>
          </a:xfrm>
          <a:prstGeom prst="rect">
            <a:avLst/>
          </a:prstGeom>
          <a:noFill/>
          <a:ln w="12700">
            <a:solidFill>
              <a:srgbClr val="F6D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bottiglia-gia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9687" y="6496050"/>
            <a:ext cx="57150" cy="438150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8277225" y="7048500"/>
            <a:ext cx="14001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50" b="0" i="0">
                <a:solidFill>
                  <a:srgbClr val="F6D01A"/>
                </a:solidFill>
                <a:latin typeface="Bodoni Moda"/>
              </a:rPr>
              <a:t>18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9600" y="7743825"/>
            <a:ext cx="1400175" cy="1400175"/>
          </a:xfrm>
          <a:prstGeom prst="rect">
            <a:avLst/>
          </a:prstGeom>
          <a:noFill/>
          <a:ln w="12700">
            <a:solidFill>
              <a:srgbClr val="F080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bottiglia-aranc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062" y="8029575"/>
            <a:ext cx="76200" cy="43815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09600" y="8582025"/>
            <a:ext cx="14001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50" b="0" i="0">
                <a:solidFill>
                  <a:srgbClr val="F08019"/>
                </a:solidFill>
                <a:latin typeface="Bodoni Moda"/>
              </a:rPr>
              <a:t>19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143125" y="7743825"/>
            <a:ext cx="1400175" cy="1400175"/>
          </a:xfrm>
          <a:prstGeom prst="rect">
            <a:avLst/>
          </a:prstGeom>
          <a:noFill/>
          <a:ln w="12700">
            <a:solidFill>
              <a:srgbClr val="E423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bottiglia-ros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5587" y="8029575"/>
            <a:ext cx="95250" cy="43815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2143125" y="8582025"/>
            <a:ext cx="14001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50" b="0" i="0">
                <a:solidFill>
                  <a:srgbClr val="E42313"/>
                </a:solidFill>
                <a:latin typeface="Bodoni Moda"/>
              </a:rPr>
              <a:t>20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76650" y="7743825"/>
            <a:ext cx="1400175" cy="1400175"/>
          </a:xfrm>
          <a:prstGeom prst="rect">
            <a:avLst/>
          </a:prstGeom>
          <a:noFill/>
          <a:ln w="12700">
            <a:solidFill>
              <a:srgbClr val="7A2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7" name="Picture 66" descr="bottiglia-viol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9112" y="8029575"/>
            <a:ext cx="66675" cy="43815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3676650" y="8582025"/>
            <a:ext cx="14001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50" b="0" i="0">
                <a:solidFill>
                  <a:srgbClr val="7A2E8E"/>
                </a:solidFill>
                <a:latin typeface="Bodoni Moda"/>
              </a:rPr>
              <a:t>21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210175" y="7743825"/>
            <a:ext cx="1400175" cy="1400175"/>
          </a:xfrm>
          <a:prstGeom prst="rect">
            <a:avLst/>
          </a:prstGeom>
          <a:noFill/>
          <a:ln w="12700">
            <a:solidFill>
              <a:srgbClr val="F6D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bottiglia-gia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637" y="8029575"/>
            <a:ext cx="57150" cy="438150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5210175" y="8582025"/>
            <a:ext cx="14001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50" b="0" i="0">
                <a:solidFill>
                  <a:srgbClr val="F6D01A"/>
                </a:solidFill>
                <a:latin typeface="Bodoni Moda"/>
              </a:rPr>
              <a:t>22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743700" y="7743825"/>
            <a:ext cx="1400175" cy="1400175"/>
          </a:xfrm>
          <a:prstGeom prst="rect">
            <a:avLst/>
          </a:prstGeom>
          <a:noFill/>
          <a:ln w="12700">
            <a:solidFill>
              <a:srgbClr val="E423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3" name="Picture 72" descr="bottiglia-ros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6162" y="8029575"/>
            <a:ext cx="95250" cy="438150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6743700" y="8582025"/>
            <a:ext cx="14001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50" b="0" i="0">
                <a:solidFill>
                  <a:srgbClr val="E42313"/>
                </a:solidFill>
                <a:latin typeface="Bodoni Moda"/>
              </a:rPr>
              <a:t>23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277225" y="7743825"/>
            <a:ext cx="1400175" cy="1400175"/>
          </a:xfrm>
          <a:prstGeom prst="rect">
            <a:avLst/>
          </a:prstGeom>
          <a:solidFill>
            <a:srgbClr val="F6D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6" name="Picture 75" descr="bottiglia-ros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9687" y="8029575"/>
            <a:ext cx="95250" cy="438150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8277225" y="8582025"/>
            <a:ext cx="140017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50" b="0" i="0">
                <a:solidFill>
                  <a:srgbClr val="14100E"/>
                </a:solidFill>
                <a:latin typeface="Bodoni Moda"/>
              </a:rPr>
              <a:t>24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09600" y="9525000"/>
            <a:ext cx="9067800" cy="9525"/>
          </a:xfrm>
          <a:prstGeom prst="rect">
            <a:avLst/>
          </a:prstGeom>
          <a:solidFill>
            <a:srgbClr val="3A3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09600" y="9829800"/>
            <a:ext cx="133350" cy="133350"/>
          </a:xfrm>
          <a:prstGeom prst="rect">
            <a:avLst/>
          </a:prstGeom>
          <a:solidFill>
            <a:srgbClr val="F6D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57250" y="977265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9BEB1"/>
                </a:solidFill>
                <a:latin typeface="Jost"/>
              </a:rPr>
              <a:t>Bianchi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895600" y="9829800"/>
            <a:ext cx="133350" cy="133350"/>
          </a:xfrm>
          <a:prstGeom prst="rect">
            <a:avLst/>
          </a:prstGeom>
          <a:solidFill>
            <a:srgbClr val="E423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143250" y="977265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9BEB1"/>
                </a:solidFill>
                <a:latin typeface="Jost"/>
              </a:rPr>
              <a:t>Rossi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181600" y="9829800"/>
            <a:ext cx="133350" cy="133350"/>
          </a:xfrm>
          <a:prstGeom prst="rect">
            <a:avLst/>
          </a:prstGeom>
          <a:solidFill>
            <a:srgbClr val="F08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429250" y="977265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9BEB1"/>
                </a:solidFill>
                <a:latin typeface="Jost"/>
              </a:rPr>
              <a:t>Bollicine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467600" y="9829800"/>
            <a:ext cx="133350" cy="133350"/>
          </a:xfrm>
          <a:prstGeom prst="rect">
            <a:avLst/>
          </a:prstGeom>
          <a:solidFill>
            <a:srgbClr val="7A2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715250" y="977265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9BEB1"/>
                </a:solidFill>
                <a:latin typeface="Jost"/>
              </a:rPr>
              <a:t>Dolci &amp; passiti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9600" y="11982450"/>
            <a:ext cx="9067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25" b="0" i="0">
                <a:solidFill>
                  <a:srgbClr val="9A8F82"/>
                </a:solidFill>
                <a:latin typeface="Jost"/>
              </a:rPr>
              <a:t>Ripartizione da confermare con la selezione definitiva — [N bianchi / N rossi / N bollicine / N dolci-passiti]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1C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666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spc="359">
                <a:solidFill>
                  <a:srgbClr val="F08019"/>
                </a:solidFill>
                <a:latin typeface="Jost"/>
              </a:rPr>
              <a:t>1 · DA COSA È COMPOSTO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85725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00" b="0" i="0">
                <a:solidFill>
                  <a:srgbClr val="F3ECE2"/>
                </a:solidFill>
                <a:latin typeface="Bodoni Moda"/>
              </a:rPr>
              <a:t>Dentro una casella</a:t>
            </a:r>
          </a:p>
        </p:txBody>
      </p:sp>
      <p:pic>
        <p:nvPicPr>
          <p:cNvPr id="5" name="Picture 4" descr="bottiglia-ros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50" y="2857500"/>
            <a:ext cx="590550" cy="28575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33475" y="6096000"/>
            <a:ext cx="1809750" cy="1123950"/>
          </a:xfrm>
          <a:prstGeom prst="rect">
            <a:avLst/>
          </a:prstGeom>
          <a:noFill/>
          <a:ln w="12700">
            <a:solidFill>
              <a:srgbClr val="4C4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04925" y="6324600"/>
            <a:ext cx="152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50" b="0" i="0">
                <a:solidFill>
                  <a:srgbClr val="F3ECE2"/>
                </a:solidFill>
                <a:latin typeface="Bodoni Moda"/>
              </a:rPr>
              <a:t>Giorno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4925" y="6686550"/>
            <a:ext cx="152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25" b="0" i="0">
                <a:solidFill>
                  <a:srgbClr val="9C9084"/>
                </a:solidFill>
                <a:latin typeface="Jost"/>
              </a:rPr>
              <a:t>[Cantina]</a:t>
            </a:r>
          </a:p>
          <a:p>
            <a:pPr algn="l">
              <a:lnSpc>
                <a:spcPct val="140000"/>
              </a:lnSpc>
            </a:pPr>
            <a:r>
              <a:rPr sz="1125" b="0" i="0">
                <a:solidFill>
                  <a:srgbClr val="9C9084"/>
                </a:solidFill>
                <a:latin typeface="Jost"/>
              </a:rPr>
              <a:t>[Etichetta · annata]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5925" y="7524750"/>
            <a:ext cx="704850" cy="704850"/>
          </a:xfrm>
          <a:prstGeom prst="rect">
            <a:avLst/>
          </a:prstGeom>
          <a:noFill/>
          <a:ln w="12700">
            <a:solidFill>
              <a:srgbClr val="4C4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85925" y="7753350"/>
            <a:ext cx="7048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9C9084"/>
                </a:solidFill>
                <a:latin typeface="Jost"/>
              </a:rPr>
              <a:t>QR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0500" y="2857500"/>
            <a:ext cx="57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0" i="0">
                <a:solidFill>
                  <a:srgbClr val="E42313"/>
                </a:solidFill>
                <a:latin typeface="Bodoni Mod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8200" y="2819400"/>
            <a:ext cx="50292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F3ECE2"/>
                </a:solidFill>
                <a:latin typeface="Jost"/>
              </a:rPr>
              <a:t>La mignon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8200" y="3276600"/>
            <a:ext cx="50292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50" b="0" i="0">
                <a:solidFill>
                  <a:srgbClr val="B0A498"/>
                </a:solidFill>
                <a:latin typeface="Jost"/>
              </a:rPr>
              <a:t>Un'etichetta reale, imbottigliata nel formato mignon da [ML]: la stessa qualità della bottiglia intera, la quantità giusta per una persona.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0500" y="4857750"/>
            <a:ext cx="57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0" i="0">
                <a:solidFill>
                  <a:srgbClr val="F08019"/>
                </a:solidFill>
                <a:latin typeface="Bodoni Mod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8200" y="4819650"/>
            <a:ext cx="50292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F3ECE2"/>
                </a:solidFill>
                <a:latin typeface="Jost"/>
              </a:rPr>
              <a:t>La scheda del giorno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8200" y="5276850"/>
            <a:ext cx="50292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50" b="0" i="0">
                <a:solidFill>
                  <a:srgbClr val="B0A498"/>
                </a:solidFill>
                <a:latin typeface="Jost"/>
              </a:rPr>
              <a:t>Cantina, territorio, vitigno, temperatura di servizio e una nota di degustazione in tre righe. Da leggere mentre il vino si apre.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0500" y="6858000"/>
            <a:ext cx="5715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50" b="0" i="0">
                <a:solidFill>
                  <a:srgbClr val="7A2E8E"/>
                </a:solidFill>
                <a:latin typeface="Bodoni Mod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8200" y="6819900"/>
            <a:ext cx="50292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i="0">
                <a:solidFill>
                  <a:srgbClr val="F3ECE2"/>
                </a:solidFill>
                <a:latin typeface="Jost"/>
              </a:rPr>
              <a:t>Il QR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8200" y="7277100"/>
            <a:ext cx="5029200" cy="133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50" b="0" i="0">
                <a:solidFill>
                  <a:srgbClr val="B0A498"/>
                </a:solidFill>
                <a:latin typeface="Jost"/>
              </a:rPr>
              <a:t>Porta alla voce del produttore — e alla bottiglia intera in enoteca, se la sera è andata bene.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11811000"/>
            <a:ext cx="9067800" cy="9525"/>
          </a:xfrm>
          <a:prstGeom prst="rect">
            <a:avLst/>
          </a:prstGeom>
          <a:solidFill>
            <a:srgbClr val="3A3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600" y="12039600"/>
            <a:ext cx="476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 spc="187">
                <a:solidFill>
                  <a:srgbClr val="9A8F82"/>
                </a:solidFill>
                <a:latin typeface="Jost"/>
              </a:rPr>
              <a:t>MIGNON EXPERIENCE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4900" y="12039600"/>
            <a:ext cx="4762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350" b="0" i="0" spc="187">
                <a:solidFill>
                  <a:srgbClr val="9A8F82"/>
                </a:solidFill>
                <a:latin typeface="Jost"/>
              </a:rPr>
              <a:t>FORMATO E CONTENUTI DA CONFERMARE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F3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666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spc="359">
                <a:solidFill>
                  <a:srgbClr val="E42313"/>
                </a:solidFill>
                <a:latin typeface="Jost"/>
              </a:rPr>
              <a:t>2 · ARRIVO A CASA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0" i="0">
                <a:solidFill>
                  <a:srgbClr val="1C1613"/>
                </a:solidFill>
                <a:latin typeface="Bodoni Moda"/>
              </a:rPr>
              <a:t>Tre gesti, poi è dicembre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866900"/>
            <a:ext cx="75247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25" b="0" i="0">
                <a:solidFill>
                  <a:srgbClr val="6B6157"/>
                </a:solidFill>
                <a:latin typeface="Jost"/>
              </a:rPr>
              <a:t>Il packaging è la prima degustazione: quello che si vede, si sente e si tiene in mano prima ancora di stappare.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3143250"/>
            <a:ext cx="2819400" cy="2857500"/>
          </a:xfrm>
          <a:prstGeom prst="rect">
            <a:avLst/>
          </a:prstGeom>
          <a:solidFill>
            <a:srgbClr val="E4D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6324600"/>
            <a:ext cx="2819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0" i="0">
                <a:solidFill>
                  <a:srgbClr val="E42313"/>
                </a:solidFill>
                <a:latin typeface="Bodoni Mod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781800"/>
            <a:ext cx="2819400" cy="70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 i="0">
                <a:solidFill>
                  <a:srgbClr val="1C1613"/>
                </a:solidFill>
                <a:latin typeface="Jost"/>
              </a:rPr>
              <a:t>La scatola da spedizione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581900"/>
            <a:ext cx="28194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6B6157"/>
                </a:solidFill>
                <a:latin typeface="Jost"/>
              </a:rPr>
              <a:t>Cartone grezzo, nastro con il marchio, nessuna scritta che riveli il contenuto. Regge il corriere e protegge 24 vetri.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38550" y="3143250"/>
            <a:ext cx="2819400" cy="2857500"/>
          </a:xfrm>
          <a:prstGeom prst="rect">
            <a:avLst/>
          </a:prstGeom>
          <a:solidFill>
            <a:srgbClr val="1C1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ottiglia-gia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0" y="4000500"/>
            <a:ext cx="152400" cy="1143000"/>
          </a:xfrm>
          <a:prstGeom prst="rect">
            <a:avLst/>
          </a:prstGeom>
        </p:spPr>
      </p:pic>
      <p:pic>
        <p:nvPicPr>
          <p:cNvPr id="12" name="Picture 11" descr="bottiglia-ros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0" y="4000500"/>
            <a:ext cx="238125" cy="1143000"/>
          </a:xfrm>
          <a:prstGeom prst="rect">
            <a:avLst/>
          </a:prstGeom>
        </p:spPr>
      </p:pic>
      <p:pic>
        <p:nvPicPr>
          <p:cNvPr id="13" name="Picture 12" descr="bottiglia-aranci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0" y="4000500"/>
            <a:ext cx="209550" cy="1143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638550" y="6324600"/>
            <a:ext cx="2819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0" i="0">
                <a:solidFill>
                  <a:srgbClr val="F08019"/>
                </a:solidFill>
                <a:latin typeface="Bodoni Moda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6781800"/>
            <a:ext cx="2819400" cy="70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 i="0">
                <a:solidFill>
                  <a:srgbClr val="1C1613"/>
                </a:solidFill>
                <a:latin typeface="Jost"/>
              </a:rPr>
              <a:t>Il cofanetto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8550" y="7581900"/>
            <a:ext cx="28194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6B6157"/>
                </a:solidFill>
                <a:latin typeface="Jost"/>
              </a:rPr>
              <a:t>Coperchio scorrevole, interno scuro, il marchio in rilievo. Si apre una volta sola: da lì in poi resta sul tavolo per 24 giorni.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67500" y="3143250"/>
            <a:ext cx="2819400" cy="2857500"/>
          </a:xfrm>
          <a:prstGeom prst="rect">
            <a:avLst/>
          </a:prstGeom>
          <a:solidFill>
            <a:srgbClr val="E4DA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bottiglia-viol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6200" y="4000500"/>
            <a:ext cx="171450" cy="1143000"/>
          </a:xfrm>
          <a:prstGeom prst="rect">
            <a:avLst/>
          </a:prstGeom>
        </p:spPr>
      </p:pic>
      <p:pic>
        <p:nvPicPr>
          <p:cNvPr id="19" name="Picture 18" descr="bottiglia-gial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0" y="4000500"/>
            <a:ext cx="152400" cy="1143000"/>
          </a:xfrm>
          <a:prstGeom prst="rect">
            <a:avLst/>
          </a:prstGeom>
        </p:spPr>
      </p:pic>
      <p:pic>
        <p:nvPicPr>
          <p:cNvPr id="20" name="Picture 19" descr="bottiglia-ross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4000500"/>
            <a:ext cx="238125" cy="1143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667500" y="6324600"/>
            <a:ext cx="28194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0" i="0">
                <a:solidFill>
                  <a:srgbClr val="7A2E8E"/>
                </a:solidFill>
                <a:latin typeface="Bodoni Moda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500" y="6781800"/>
            <a:ext cx="2819400" cy="704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 i="0">
                <a:solidFill>
                  <a:srgbClr val="1C1613"/>
                </a:solidFill>
                <a:latin typeface="Jost"/>
              </a:rPr>
              <a:t>Le 24 caselle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500" y="7581900"/>
            <a:ext cx="28194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6B6157"/>
                </a:solidFill>
                <a:latin typeface="Jost"/>
              </a:rPr>
              <a:t>Alveoli in cartone riciclato, ogni bottiglia in piedi e numerata. Vuoto significa una sera passata: il cofanetto si svuota a vista.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600" y="11868150"/>
            <a:ext cx="9067800" cy="9525"/>
          </a:xfrm>
          <a:prstGeom prst="rect">
            <a:avLst/>
          </a:prstGeom>
          <a:solidFill>
            <a:srgbClr val="D3C7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600" y="12077700"/>
            <a:ext cx="5905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 spc="165">
                <a:solidFill>
                  <a:srgbClr val="6B6157"/>
                </a:solidFill>
                <a:latin typeface="Jost"/>
              </a:rPr>
              <a:t>MOCKUP INDICATIVI — MATERIALI E FINITURE DA DEFINIRE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7500" y="12077700"/>
            <a:ext cx="30099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350" b="0" i="0" spc="165">
                <a:solidFill>
                  <a:srgbClr val="6B6157"/>
                </a:solidFill>
                <a:latin typeface="Jost"/>
              </a:rPr>
              <a:t>MIGNONEXPERIENCE.COM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14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666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spc="359">
                <a:solidFill>
                  <a:srgbClr val="7A2E8E"/>
                </a:solidFill>
                <a:latin typeface="Jost"/>
              </a:rPr>
              <a:t>3 · SITUAZIONI DI CONSUMO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952500"/>
            <a:ext cx="85725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00" b="0" i="0">
                <a:solidFill>
                  <a:srgbClr val="F3ECE2"/>
                </a:solidFill>
                <a:latin typeface="Bodoni Moda"/>
              </a:rPr>
              <a:t>Una sera, </a:t>
            </a:r>
            <a:r>
              <a:rPr sz="5700" b="0" i="1">
                <a:solidFill>
                  <a:srgbClr val="F6D01A"/>
                </a:solidFill>
                <a:latin typeface="Bodoni Moda"/>
              </a:rPr>
              <a:t>una sola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981200"/>
            <a:ext cx="77152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25" b="0" i="0">
                <a:solidFill>
                  <a:srgbClr val="B0A498"/>
                </a:solidFill>
                <a:latin typeface="Jost"/>
              </a:rPr>
              <a:t>Il mignon toglie l'alibi della bottiglia aperta: si versa quando ne hai voglia, anche da soli, anche di martedì.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3238500"/>
            <a:ext cx="4419600" cy="3810000"/>
          </a:xfrm>
          <a:prstGeom prst="rect">
            <a:avLst/>
          </a:prstGeom>
          <a:solidFill>
            <a:srgbClr val="1E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1550" y="3600450"/>
            <a:ext cx="533400" cy="533400"/>
          </a:xfrm>
          <a:prstGeom prst="rect">
            <a:avLst/>
          </a:prstGeom>
          <a:noFill/>
          <a:ln w="19050">
            <a:solidFill>
              <a:srgbClr val="E423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5219700"/>
            <a:ext cx="36957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F3ECE2"/>
                </a:solidFill>
                <a:latin typeface="Bodoni Moda"/>
              </a:rPr>
              <a:t>Le 21:30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5829300"/>
            <a:ext cx="36957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75" b="0" i="0">
                <a:solidFill>
                  <a:srgbClr val="9C9084"/>
                </a:solidFill>
                <a:latin typeface="Jost"/>
              </a:rPr>
              <a:t>Cena finita, luci basse, un solo calice. Non è una degustazione: è la parte migliore della giornata.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57800" y="3238500"/>
            <a:ext cx="4419600" cy="3810000"/>
          </a:xfrm>
          <a:prstGeom prst="rect">
            <a:avLst/>
          </a:prstGeom>
          <a:solidFill>
            <a:srgbClr val="1E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19750" y="3600450"/>
            <a:ext cx="533400" cy="533400"/>
          </a:xfrm>
          <a:prstGeom prst="rect">
            <a:avLst/>
          </a:prstGeom>
          <a:noFill/>
          <a:ln w="19050">
            <a:solidFill>
              <a:srgbClr val="F0801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19750" y="5219700"/>
            <a:ext cx="36957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F3ECE2"/>
                </a:solidFill>
                <a:latin typeface="Bodoni Moda"/>
              </a:rPr>
              <a:t>Il libro lungo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19750" y="5829300"/>
            <a:ext cx="36957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75" b="0" i="0">
                <a:solidFill>
                  <a:srgbClr val="9C9084"/>
                </a:solidFill>
                <a:latin typeface="Jost"/>
              </a:rPr>
              <a:t>Due capitoli e mezzo bicchiere. La quantità giusta per finire il capitolo e non il libro.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600" y="7277100"/>
            <a:ext cx="4419600" cy="3810000"/>
          </a:xfrm>
          <a:prstGeom prst="rect">
            <a:avLst/>
          </a:prstGeom>
          <a:solidFill>
            <a:srgbClr val="1E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71550" y="7639050"/>
            <a:ext cx="533400" cy="533400"/>
          </a:xfrm>
          <a:prstGeom prst="rect">
            <a:avLst/>
          </a:prstGeom>
          <a:noFill/>
          <a:ln w="19050">
            <a:solidFill>
              <a:srgbClr val="7A2E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550" y="9258300"/>
            <a:ext cx="36957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F3ECE2"/>
                </a:solidFill>
                <a:latin typeface="Bodoni Moda"/>
              </a:rPr>
              <a:t>L'ultima puntata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9867900"/>
            <a:ext cx="36957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75" b="0" i="0">
                <a:solidFill>
                  <a:srgbClr val="9C9084"/>
                </a:solidFill>
                <a:latin typeface="Jost"/>
              </a:rPr>
              <a:t>Divano, coperta, la serie che stai finendo. Il vino della sera arriva già scelto: una decisione in meno.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57800" y="7277100"/>
            <a:ext cx="4419600" cy="3810000"/>
          </a:xfrm>
          <a:prstGeom prst="rect">
            <a:avLst/>
          </a:prstGeom>
          <a:solidFill>
            <a:srgbClr val="1E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19750" y="7639050"/>
            <a:ext cx="533400" cy="533400"/>
          </a:xfrm>
          <a:prstGeom prst="rect">
            <a:avLst/>
          </a:prstGeom>
          <a:noFill/>
          <a:ln w="19050">
            <a:solidFill>
              <a:srgbClr val="F6D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19750" y="9258300"/>
            <a:ext cx="36957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 i="0">
                <a:solidFill>
                  <a:srgbClr val="F3ECE2"/>
                </a:solidFill>
                <a:latin typeface="Bodoni Moda"/>
              </a:rPr>
              <a:t>A distanza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19750" y="9867900"/>
            <a:ext cx="36957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75" b="0" i="0">
                <a:solidFill>
                  <a:srgbClr val="9C9084"/>
                </a:solidFill>
                <a:latin typeface="Jost"/>
              </a:rPr>
              <a:t>Due calendari, due case, la stessa casella aperta alla stessa ora. Il brindisi arriva per telefono.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11811000"/>
            <a:ext cx="9067800" cy="9525"/>
          </a:xfrm>
          <a:prstGeom prst="rect">
            <a:avLst/>
          </a:prstGeom>
          <a:solidFill>
            <a:srgbClr val="3A3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12039600"/>
            <a:ext cx="90678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25" b="0" i="0">
                <a:solidFill>
                  <a:srgbClr val="9A8F82"/>
                </a:solidFill>
                <a:latin typeface="Jost"/>
              </a:rPr>
              <a:t>Da girare come serie foto/reel — stessa luce, stessa inquadratura, quattro sere diverse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141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609600"/>
            <a:ext cx="6667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 spc="359">
                <a:solidFill>
                  <a:srgbClr val="F08019"/>
                </a:solidFill>
                <a:latin typeface="Jost"/>
              </a:rPr>
              <a:t>4 · IDEE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0" y="609600"/>
            <a:ext cx="39624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 i="0" spc="240">
                <a:solidFill>
                  <a:srgbClr val="9A8F82"/>
                </a:solidFill>
                <a:latin typeface="Jost"/>
              </a:rPr>
              <a:t>TEMPLATE POST QUOTIDIANO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238250"/>
            <a:ext cx="24765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0000"/>
              </a:lnSpc>
            </a:pPr>
            <a:r>
              <a:rPr sz="14250" b="0" i="0">
                <a:solidFill>
                  <a:srgbClr val="F6D01A"/>
                </a:solidFill>
                <a:latin typeface="Bodoni Moda"/>
              </a:rPr>
              <a:t>7</a:t>
            </a:r>
          </a:p>
        </p:txBody>
      </p:sp>
      <p:pic>
        <p:nvPicPr>
          <p:cNvPr id="6" name="Picture 5" descr="bottiglia-ros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5" y="3429000"/>
            <a:ext cx="657225" cy="3143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505200" y="1333500"/>
            <a:ext cx="61722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 spc="322">
                <a:solidFill>
                  <a:srgbClr val="8E8378"/>
                </a:solidFill>
                <a:latin typeface="Jost"/>
              </a:rPr>
              <a:t>[REGIONE · DENOMINAZIONE]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5200" y="1714500"/>
            <a:ext cx="61722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4500" b="0" i="0">
                <a:solidFill>
                  <a:srgbClr val="F3ECE2"/>
                </a:solidFill>
                <a:latin typeface="Bodoni Moda"/>
              </a:rPr>
              <a:t>[Nome etichetta]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5200" y="2552700"/>
            <a:ext cx="6172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50" b="0" i="0">
                <a:solidFill>
                  <a:srgbClr val="B0A498"/>
                </a:solidFill>
                <a:latin typeface="Jost"/>
              </a:rPr>
              <a:t>[Cantina] · [Annata]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5200" y="346710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75" b="0" i="0" spc="202">
                <a:solidFill>
                  <a:srgbClr val="9A8F82"/>
                </a:solidFill>
                <a:latin typeface="Jost"/>
              </a:rPr>
              <a:t>VITIGNO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0200" y="3429000"/>
            <a:ext cx="42672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F3ECE2"/>
                </a:solidFill>
                <a:latin typeface="Jost"/>
              </a:rPr>
              <a:t>[Vitigno]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05200" y="3981450"/>
            <a:ext cx="6172200" cy="9525"/>
          </a:xfrm>
          <a:prstGeom prst="rect">
            <a:avLst/>
          </a:prstGeom>
          <a:solidFill>
            <a:srgbClr val="2E27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5200" y="419100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75" b="0" i="0" spc="202">
                <a:solidFill>
                  <a:srgbClr val="9A8F82"/>
                </a:solidFill>
                <a:latin typeface="Jost"/>
              </a:rPr>
              <a:t>SERVIZIO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0200" y="4152900"/>
            <a:ext cx="42672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F3ECE2"/>
                </a:solidFill>
                <a:latin typeface="Jost"/>
              </a:rPr>
              <a:t>[XX]°C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05200" y="4705350"/>
            <a:ext cx="6172200" cy="9525"/>
          </a:xfrm>
          <a:prstGeom prst="rect">
            <a:avLst/>
          </a:prstGeom>
          <a:solidFill>
            <a:srgbClr val="2E27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5200" y="491490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75" b="0" i="0" spc="202">
                <a:solidFill>
                  <a:srgbClr val="9A8F82"/>
                </a:solidFill>
                <a:latin typeface="Jost"/>
              </a:rPr>
              <a:t>AL NASO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0200" y="4876800"/>
            <a:ext cx="42672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F3ECE2"/>
                </a:solidFill>
                <a:latin typeface="Jost"/>
              </a:rPr>
              <a:t>[Tre descrittori]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05200" y="5429250"/>
            <a:ext cx="6172200" cy="9525"/>
          </a:xfrm>
          <a:prstGeom prst="rect">
            <a:avLst/>
          </a:prstGeom>
          <a:solidFill>
            <a:srgbClr val="2E27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05200" y="5638800"/>
            <a:ext cx="190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75" b="0" i="0" spc="202">
                <a:solidFill>
                  <a:srgbClr val="9A8F82"/>
                </a:solidFill>
                <a:latin typeface="Jost"/>
              </a:rPr>
              <a:t>STASERA CON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0200" y="5600700"/>
            <a:ext cx="42672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F3ECE2"/>
                </a:solidFill>
                <a:latin typeface="Jost"/>
              </a:rPr>
              <a:t>[Abbinamento in tre parole]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05200" y="6153150"/>
            <a:ext cx="6172200" cy="9525"/>
          </a:xfrm>
          <a:prstGeom prst="rect">
            <a:avLst/>
          </a:prstGeom>
          <a:solidFill>
            <a:srgbClr val="2E27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05200" y="6667500"/>
            <a:ext cx="6172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 i="1">
                <a:solidFill>
                  <a:srgbClr val="F6D01A"/>
                </a:solidFill>
                <a:latin typeface="Bodoni Moda"/>
              </a:rPr>
              <a:t>“[Una riga del produttore su questo vino.]”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600" y="11582400"/>
            <a:ext cx="9067800" cy="9525"/>
          </a:xfrm>
          <a:prstGeom prst="rect">
            <a:avLst/>
          </a:prstGeom>
          <a:solidFill>
            <a:srgbClr val="3A3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bottigl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1582400"/>
            <a:ext cx="485775" cy="5715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09600" y="12230100"/>
            <a:ext cx="1489709" cy="2266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75" b="1" i="0">
                <a:solidFill>
                  <a:srgbClr val="F3ECE2"/>
                </a:solidFill>
                <a:latin typeface="Montserrat"/>
              </a:rPr>
              <a:t>Mignon Experience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600" y="12448698"/>
            <a:ext cx="1489709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00" b="0" i="0" spc="179">
                <a:solidFill>
                  <a:srgbClr val="A2968A"/>
                </a:solidFill>
                <a:latin typeface="Montserrat"/>
              </a:rPr>
              <a:t>LE PIÙ PICCOLE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62500" y="12039600"/>
            <a:ext cx="49149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350" b="0" i="0" spc="217">
                <a:solidFill>
                  <a:srgbClr val="9A8F82"/>
                </a:solidFill>
                <a:latin typeface="Jost"/>
              </a:rPr>
              <a:t>LA BOTTIGLIA INTERA → IN ENOTECA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